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uhod" charset="1" panose="020B0803030604020204"/>
      <p:regular r:id="rId15"/>
    </p:embeddedFont>
    <p:embeddedFont>
      <p:font typeface="Public Sans Medium" charset="1" panose="00000000000000000000"/>
      <p:regular r:id="rId16"/>
    </p:embeddedFont>
    <p:embeddedFont>
      <p:font typeface="Public Sans Heavy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3563" y="-291011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4" id="4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649935">
            <a:off x="-2986602" y="-1143251"/>
            <a:ext cx="6717411" cy="8229600"/>
          </a:xfrm>
          <a:custGeom>
            <a:avLst/>
            <a:gdLst/>
            <a:ahLst/>
            <a:cxnLst/>
            <a:rect r="r" b="b" t="t" l="l"/>
            <a:pathLst>
              <a:path h="8229600" w="6717411">
                <a:moveTo>
                  <a:pt x="0" y="0"/>
                </a:moveTo>
                <a:lnTo>
                  <a:pt x="6717411" y="0"/>
                </a:lnTo>
                <a:lnTo>
                  <a:pt x="6717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28700" y="4540492"/>
            <a:ext cx="11474537" cy="272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5"/>
              </a:lnSpc>
            </a:pPr>
            <a:r>
              <a:rPr lang="en-US" sz="7005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Real-Time People Counting &amp; Object Detection using YOLOv8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672147" y="2239503"/>
            <a:ext cx="10674604" cy="7301538"/>
            <a:chOff x="0" y="0"/>
            <a:chExt cx="14232805" cy="9735385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9735385" cy="9735385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4497420" y="0"/>
              <a:ext cx="9735385" cy="973538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name="TextBox 17" id="17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932023"/>
            <a:ext cx="3245563" cy="662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Presented by: Amit Kumar</a:t>
            </a:r>
          </a:p>
          <a:p>
            <a:pPr algn="l">
              <a:lnSpc>
                <a:spcPts val="267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4940065" y="990600"/>
            <a:ext cx="1251950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646357" y="1696153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5083" y="3975932"/>
            <a:ext cx="11272448" cy="1776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4"/>
              </a:lnSpc>
            </a:pPr>
            <a:r>
              <a:rPr lang="en-US" sz="12025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09782" y="3482718"/>
            <a:ext cx="2695095" cy="5775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6"/>
              </a:lnSpc>
            </a:pPr>
            <a:r>
              <a:rPr lang="en-US" sz="36493" b="true">
                <a:solidFill>
                  <a:srgbClr val="2F2F2F">
                    <a:alpha val="5882"/>
                  </a:srgbClr>
                </a:solidFill>
                <a:latin typeface="Public Sans Heavy"/>
                <a:ea typeface="Public Sans Heavy"/>
                <a:cs typeface="Public Sans Heavy"/>
                <a:sym typeface="Public Sans Heavy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649935">
            <a:off x="14675615" y="-2293163"/>
            <a:ext cx="6717411" cy="8229600"/>
          </a:xfrm>
          <a:custGeom>
            <a:avLst/>
            <a:gdLst/>
            <a:ahLst/>
            <a:cxnLst/>
            <a:rect r="r" b="b" t="t" l="l"/>
            <a:pathLst>
              <a:path h="8229600" w="6717411">
                <a:moveTo>
                  <a:pt x="0" y="0"/>
                </a:moveTo>
                <a:lnTo>
                  <a:pt x="6717411" y="0"/>
                </a:lnTo>
                <a:lnTo>
                  <a:pt x="6717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10" id="10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3" id="13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06034" y="4646702"/>
            <a:ext cx="8081966" cy="476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468" indent="-359234" lvl="1">
              <a:lnSpc>
                <a:spcPts val="4226"/>
              </a:lnSpc>
              <a:buFont typeface="Arial"/>
              <a:buChar char="•"/>
            </a:pPr>
            <a:r>
              <a:rPr lang="en-US" b="true" sz="3327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Object detection is a key area in computer vision with wide applications.</a:t>
            </a:r>
          </a:p>
          <a:p>
            <a:pPr algn="l" marL="718468" indent="-359234" lvl="1">
              <a:lnSpc>
                <a:spcPts val="4226"/>
              </a:lnSpc>
              <a:buFont typeface="Arial"/>
              <a:buChar char="•"/>
            </a:pPr>
            <a:r>
              <a:rPr lang="en-US" b="true" sz="3327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This project focuses on detecting objects and counting people live using a webcam.</a:t>
            </a:r>
          </a:p>
          <a:p>
            <a:pPr algn="l" marL="718468" indent="-359234" lvl="1">
              <a:lnSpc>
                <a:spcPts val="4226"/>
              </a:lnSpc>
              <a:buFont typeface="Arial"/>
              <a:buChar char="•"/>
            </a:pPr>
            <a:r>
              <a:rPr lang="en-US" b="true" sz="3327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Implemented using YOLOv8 (You Only Look Once) and Streamlit.</a:t>
            </a:r>
          </a:p>
          <a:p>
            <a:pPr algn="l">
              <a:lnSpc>
                <a:spcPts val="4226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-1428127" y="6494334"/>
            <a:ext cx="10674604" cy="7301538"/>
            <a:chOff x="0" y="0"/>
            <a:chExt cx="14232805" cy="9735385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9735385" cy="9735385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497420" y="0"/>
              <a:ext cx="9735385" cy="9735385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09333" y="-134346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649935">
            <a:off x="9386697" y="-2797923"/>
            <a:ext cx="6717411" cy="8229600"/>
          </a:xfrm>
          <a:custGeom>
            <a:avLst/>
            <a:gdLst/>
            <a:ahLst/>
            <a:cxnLst/>
            <a:rect r="r" b="b" t="t" l="l"/>
            <a:pathLst>
              <a:path h="8229600" w="6717411">
                <a:moveTo>
                  <a:pt x="0" y="0"/>
                </a:moveTo>
                <a:lnTo>
                  <a:pt x="6717411" y="0"/>
                </a:lnTo>
                <a:lnTo>
                  <a:pt x="6717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8" id="8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1" id="11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3084693"/>
            <a:ext cx="10066826" cy="1938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9"/>
              </a:lnSpc>
            </a:pPr>
            <a:r>
              <a:rPr lang="en-US" sz="13083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Objective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6073" y="6513449"/>
            <a:ext cx="8738905" cy="334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6686" indent="-323343" lvl="1">
              <a:lnSpc>
                <a:spcPts val="3804"/>
              </a:lnSpc>
              <a:buFont typeface="Arial"/>
              <a:buChar char="•"/>
            </a:pPr>
            <a:r>
              <a:rPr lang="en-US" b="true" sz="29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Detect objects in real-time using webcam, images, and videos.</a:t>
            </a:r>
          </a:p>
          <a:p>
            <a:pPr algn="l" marL="646686" indent="-323343" lvl="1">
              <a:lnSpc>
                <a:spcPts val="3804"/>
              </a:lnSpc>
              <a:buFont typeface="Arial"/>
              <a:buChar char="•"/>
            </a:pPr>
            <a:r>
              <a:rPr lang="en-US" b="true" sz="29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Count the number of people present and track how many have entered the frame.</a:t>
            </a:r>
          </a:p>
          <a:p>
            <a:pPr algn="l" marL="646686" indent="-323343" lvl="1">
              <a:lnSpc>
                <a:spcPts val="3804"/>
              </a:lnSpc>
              <a:buFont typeface="Arial"/>
              <a:buChar char="•"/>
            </a:pPr>
            <a:r>
              <a:rPr lang="en-US" b="true" sz="29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Provide a user-friendly interface with live stream visualization and detection details.</a:t>
            </a:r>
          </a:p>
          <a:p>
            <a:pPr algn="l">
              <a:lnSpc>
                <a:spcPts val="3804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1474168" y="2267152"/>
            <a:ext cx="5343406" cy="3654944"/>
            <a:chOff x="0" y="0"/>
            <a:chExt cx="7124541" cy="487325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873259" cy="487325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251282" y="0"/>
              <a:ext cx="4873259" cy="4873259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-170184" y="8935267"/>
            <a:ext cx="3245563" cy="32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0"/>
              </a:lnSpc>
              <a:spcBef>
                <a:spcPct val="0"/>
              </a:spcBef>
            </a:pPr>
            <a:r>
              <a:rPr lang="en-US" b="true" sz="190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www.youramit.in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64141" y="409367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6" y="0"/>
                </a:lnTo>
                <a:lnTo>
                  <a:pt x="17111066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931513">
            <a:off x="-2969015" y="-2905577"/>
            <a:ext cx="9584467" cy="11742072"/>
          </a:xfrm>
          <a:custGeom>
            <a:avLst/>
            <a:gdLst/>
            <a:ahLst/>
            <a:cxnLst/>
            <a:rect r="r" b="b" t="t" l="l"/>
            <a:pathLst>
              <a:path h="11742072" w="9584467">
                <a:moveTo>
                  <a:pt x="0" y="0"/>
                </a:moveTo>
                <a:lnTo>
                  <a:pt x="9584466" y="0"/>
                </a:lnTo>
                <a:lnTo>
                  <a:pt x="9584466" y="11742073"/>
                </a:lnTo>
                <a:lnTo>
                  <a:pt x="0" y="117420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8" id="8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1" id="11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7428830" y="3146914"/>
            <a:ext cx="10066826" cy="326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600"/>
              </a:lnSpc>
            </a:pPr>
            <a:r>
              <a:rPr lang="en-US" sz="12083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Tools &amp; Technologies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753718"/>
            <a:ext cx="7484448" cy="276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5962" indent="-267981" lvl="1">
              <a:lnSpc>
                <a:spcPts val="3152"/>
              </a:lnSpc>
              <a:buFont typeface="Arial"/>
              <a:buChar char="•"/>
            </a:pPr>
            <a:r>
              <a:rPr lang="en-US" b="true" sz="2482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YOLOv8 – for real-time object detection.</a:t>
            </a:r>
          </a:p>
          <a:p>
            <a:pPr algn="l" marL="535962" indent="-267981" lvl="1">
              <a:lnSpc>
                <a:spcPts val="3152"/>
              </a:lnSpc>
              <a:buFont typeface="Arial"/>
              <a:buChar char="•"/>
            </a:pPr>
            <a:r>
              <a:rPr lang="en-US" b="true" sz="2482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Streamlit – for building an interactive web interface.</a:t>
            </a:r>
          </a:p>
          <a:p>
            <a:pPr algn="l" marL="535962" indent="-267981" lvl="1">
              <a:lnSpc>
                <a:spcPts val="3152"/>
              </a:lnSpc>
              <a:buFont typeface="Arial"/>
              <a:buChar char="•"/>
            </a:pPr>
            <a:r>
              <a:rPr lang="en-US" b="true" sz="2482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OpenCV – for video frame handling and visualization.</a:t>
            </a:r>
          </a:p>
          <a:p>
            <a:pPr algn="l" marL="535962" indent="-267981" lvl="1">
              <a:lnSpc>
                <a:spcPts val="3152"/>
              </a:lnSpc>
              <a:buFont typeface="Arial"/>
              <a:buChar char="•"/>
            </a:pPr>
            <a:r>
              <a:rPr lang="en-US" b="true" sz="2482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Python – primary programming language.</a:t>
            </a:r>
          </a:p>
          <a:p>
            <a:pPr algn="l">
              <a:lnSpc>
                <a:spcPts val="3152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2292571"/>
            <a:ext cx="5337302" cy="3650769"/>
            <a:chOff x="0" y="0"/>
            <a:chExt cx="7116402" cy="486769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867692" cy="486769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248710" y="0"/>
              <a:ext cx="4867692" cy="486769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4013737" y="8935267"/>
            <a:ext cx="3245563" cy="32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0"/>
              </a:lnSpc>
              <a:spcBef>
                <a:spcPct val="0"/>
              </a:spcBef>
            </a:pPr>
            <a:r>
              <a:rPr lang="en-US" b="true" sz="190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www.youramit.in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56395" y="-4432299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895183">
            <a:off x="12378771" y="-762593"/>
            <a:ext cx="8837855" cy="10689942"/>
          </a:xfrm>
          <a:custGeom>
            <a:avLst/>
            <a:gdLst/>
            <a:ahLst/>
            <a:cxnLst/>
            <a:rect r="r" b="b" t="t" l="l"/>
            <a:pathLst>
              <a:path h="10689942" w="8837855">
                <a:moveTo>
                  <a:pt x="0" y="0"/>
                </a:moveTo>
                <a:lnTo>
                  <a:pt x="8837855" y="0"/>
                </a:lnTo>
                <a:lnTo>
                  <a:pt x="8837855" y="10689942"/>
                </a:lnTo>
                <a:lnTo>
                  <a:pt x="0" y="106899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42" r="0" b="-64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8" id="8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1" id="11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873541" y="2124778"/>
            <a:ext cx="15886058" cy="353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9"/>
              </a:lnSpc>
            </a:pPr>
            <a:r>
              <a:rPr lang="en-US" sz="13083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System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3541" y="6780365"/>
            <a:ext cx="9894458" cy="247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0419" indent="-280209" lvl="1">
              <a:lnSpc>
                <a:spcPts val="3296"/>
              </a:lnSpc>
              <a:buFont typeface="Arial"/>
              <a:buChar char="•"/>
            </a:pPr>
            <a:r>
              <a:rPr lang="en-US" b="true" sz="25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Input from webcam / image / video.</a:t>
            </a:r>
          </a:p>
          <a:p>
            <a:pPr algn="l" marL="560419" indent="-280209" lvl="1">
              <a:lnSpc>
                <a:spcPts val="3296"/>
              </a:lnSpc>
              <a:buFont typeface="Arial"/>
              <a:buChar char="•"/>
            </a:pPr>
            <a:r>
              <a:rPr lang="en-US" b="true" sz="25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YOLOv8 processes the frame.</a:t>
            </a:r>
          </a:p>
          <a:p>
            <a:pPr algn="l" marL="560419" indent="-280209" lvl="1">
              <a:lnSpc>
                <a:spcPts val="3296"/>
              </a:lnSpc>
              <a:buFont typeface="Arial"/>
              <a:buChar char="•"/>
            </a:pPr>
            <a:r>
              <a:rPr lang="en-US" b="true" sz="25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Identifies objects with bounding boxes and labels.</a:t>
            </a:r>
          </a:p>
          <a:p>
            <a:pPr algn="l" marL="560419" indent="-280209" lvl="1">
              <a:lnSpc>
                <a:spcPts val="3296"/>
              </a:lnSpc>
              <a:buFont typeface="Arial"/>
              <a:buChar char="•"/>
            </a:pPr>
            <a:r>
              <a:rPr lang="en-US" b="true" sz="25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Counts total objects and tracks unique people using IDs.</a:t>
            </a:r>
          </a:p>
          <a:p>
            <a:pPr algn="l" marL="560419" indent="-280209" lvl="1">
              <a:lnSpc>
                <a:spcPts val="3296"/>
              </a:lnSpc>
              <a:buFont typeface="Arial"/>
              <a:buChar char="•"/>
            </a:pPr>
            <a:r>
              <a:rPr lang="en-US" b="true" sz="2595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Displays results on a stylish Streamlit web app.</a:t>
            </a:r>
          </a:p>
          <a:p>
            <a:pPr algn="l">
              <a:lnSpc>
                <a:spcPts val="3296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3005069" y="2099424"/>
            <a:ext cx="5900551" cy="4036037"/>
            <a:chOff x="0" y="0"/>
            <a:chExt cx="7867402" cy="538138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381383" cy="5381383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486018" y="0"/>
              <a:ext cx="5381383" cy="538138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02844" y="-8806490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0" id="10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911568" y="7316473"/>
            <a:ext cx="11463862" cy="1941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59"/>
              </a:lnSpc>
            </a:pPr>
            <a:r>
              <a:rPr lang="en-US" sz="13083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Key Features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13168" y="3541907"/>
            <a:ext cx="5543844" cy="213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014" indent="-238007" lvl="1">
              <a:lnSpc>
                <a:spcPts val="2800"/>
              </a:lnSpc>
              <a:buFont typeface="Arial"/>
              <a:buChar char="•"/>
            </a:pPr>
            <a:r>
              <a:rPr lang="en-US" b="true" sz="2204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🎥 Live Camera Mode</a:t>
            </a:r>
          </a:p>
          <a:p>
            <a:pPr algn="l" marL="476014" indent="-238007" lvl="1">
              <a:lnSpc>
                <a:spcPts val="2800"/>
              </a:lnSpc>
              <a:buFont typeface="Arial"/>
              <a:buChar char="•"/>
            </a:pPr>
            <a:r>
              <a:rPr lang="en-US" b="true" sz="2204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🖼️ Image and Video Upload Support</a:t>
            </a:r>
          </a:p>
          <a:p>
            <a:pPr algn="l" marL="476014" indent="-238007" lvl="1">
              <a:lnSpc>
                <a:spcPts val="2800"/>
              </a:lnSpc>
              <a:buFont typeface="Arial"/>
              <a:buChar char="•"/>
            </a:pPr>
            <a:r>
              <a:rPr lang="en-US" b="true" sz="2204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🔢 Live Person Count and Entry Count</a:t>
            </a:r>
          </a:p>
          <a:p>
            <a:pPr algn="l" marL="476014" indent="-238007" lvl="1">
              <a:lnSpc>
                <a:spcPts val="2800"/>
              </a:lnSpc>
              <a:buFont typeface="Arial"/>
              <a:buChar char="•"/>
            </a:pPr>
            <a:r>
              <a:rPr lang="en-US" b="true" sz="2204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💾 Save Frame and Screenshot</a:t>
            </a:r>
          </a:p>
          <a:p>
            <a:pPr algn="l" marL="476014" indent="-238007" lvl="1">
              <a:lnSpc>
                <a:spcPts val="2800"/>
              </a:lnSpc>
              <a:buFont typeface="Arial"/>
              <a:buChar char="•"/>
            </a:pPr>
            <a:r>
              <a:rPr lang="en-US" b="true" sz="2204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🎨 Gradient UI with Styled Sidebar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3746266">
            <a:off x="12549515" y="5554422"/>
            <a:ext cx="6717411" cy="8229600"/>
          </a:xfrm>
          <a:custGeom>
            <a:avLst/>
            <a:gdLst/>
            <a:ahLst/>
            <a:cxnLst/>
            <a:rect r="r" b="b" t="t" l="l"/>
            <a:pathLst>
              <a:path h="8229600" w="6717411">
                <a:moveTo>
                  <a:pt x="0" y="0"/>
                </a:moveTo>
                <a:lnTo>
                  <a:pt x="6717411" y="0"/>
                </a:lnTo>
                <a:lnTo>
                  <a:pt x="6717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11568" y="2270035"/>
            <a:ext cx="4788631" cy="3275472"/>
            <a:chOff x="0" y="0"/>
            <a:chExt cx="6384841" cy="436729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367297" cy="4367297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017544" y="0"/>
              <a:ext cx="4367297" cy="436729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3763886" y="8932023"/>
            <a:ext cx="3245563" cy="32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0"/>
              </a:lnSpc>
              <a:spcBef>
                <a:spcPct val="0"/>
              </a:spcBef>
            </a:pPr>
            <a:r>
              <a:rPr lang="en-US" b="true" sz="190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www.youramit.in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584532" y="-6368917"/>
            <a:ext cx="16728532" cy="15870513"/>
          </a:xfrm>
          <a:custGeom>
            <a:avLst/>
            <a:gdLst/>
            <a:ahLst/>
            <a:cxnLst/>
            <a:rect r="r" b="b" t="t" l="l"/>
            <a:pathLst>
              <a:path h="15870513" w="16728532">
                <a:moveTo>
                  <a:pt x="0" y="0"/>
                </a:moveTo>
                <a:lnTo>
                  <a:pt x="16728532" y="0"/>
                </a:lnTo>
                <a:lnTo>
                  <a:pt x="16728532" y="15870513"/>
                </a:lnTo>
                <a:lnTo>
                  <a:pt x="0" y="158705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43" t="0" r="-114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5050903">
            <a:off x="12315018" y="394654"/>
            <a:ext cx="7753995" cy="9769128"/>
          </a:xfrm>
          <a:custGeom>
            <a:avLst/>
            <a:gdLst/>
            <a:ahLst/>
            <a:cxnLst/>
            <a:rect r="r" b="b" t="t" l="l"/>
            <a:pathLst>
              <a:path h="9769128" w="7753995">
                <a:moveTo>
                  <a:pt x="0" y="0"/>
                </a:moveTo>
                <a:lnTo>
                  <a:pt x="7753995" y="0"/>
                </a:lnTo>
                <a:lnTo>
                  <a:pt x="7753995" y="9769129"/>
                </a:lnTo>
                <a:lnTo>
                  <a:pt x="0" y="9769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18" t="0" r="-141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8" id="8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" id="10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1" id="11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3771292" y="6733493"/>
            <a:ext cx="13493979" cy="1776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309"/>
              </a:lnSpc>
            </a:pPr>
            <a:r>
              <a:rPr lang="en-US" sz="11780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Tracking Logic</a:t>
            </a:r>
          </a:p>
          <a:p>
            <a:pPr algn="r">
              <a:lnSpc>
                <a:spcPts val="145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79734" y="2687830"/>
            <a:ext cx="7786041" cy="280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027" indent="-317014" lvl="1">
              <a:lnSpc>
                <a:spcPts val="3729"/>
              </a:lnSpc>
              <a:buFont typeface="Arial"/>
              <a:buChar char="•"/>
            </a:pPr>
            <a:r>
              <a:rPr lang="en-US" b="true" sz="2936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Uses YOLOv8 tracking (.track() method).</a:t>
            </a:r>
          </a:p>
          <a:p>
            <a:pPr algn="l" marL="634027" indent="-317014" lvl="1">
              <a:lnSpc>
                <a:spcPts val="3729"/>
              </a:lnSpc>
              <a:buFont typeface="Arial"/>
              <a:buChar char="•"/>
            </a:pPr>
            <a:r>
              <a:rPr lang="en-US" b="true" sz="2936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Assigns unique IDs to detected people.</a:t>
            </a:r>
          </a:p>
          <a:p>
            <a:pPr algn="l" marL="634027" indent="-317014" lvl="1">
              <a:lnSpc>
                <a:spcPts val="3729"/>
              </a:lnSpc>
              <a:buFont typeface="Arial"/>
              <a:buChar char="•"/>
            </a:pPr>
            <a:r>
              <a:rPr lang="en-US" b="true" sz="2936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Maintains a set of previous IDs.</a:t>
            </a:r>
          </a:p>
          <a:p>
            <a:pPr algn="l" marL="634027" indent="-317014" lvl="1">
              <a:lnSpc>
                <a:spcPts val="3729"/>
              </a:lnSpc>
              <a:buFont typeface="Arial"/>
              <a:buChar char="•"/>
            </a:pPr>
            <a:r>
              <a:rPr lang="en-US" b="true" sz="2936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New ID = New entry → Increments Entered Count.</a:t>
            </a:r>
          </a:p>
          <a:p>
            <a:pPr algn="l">
              <a:lnSpc>
                <a:spcPts val="372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2745403" y="2405366"/>
            <a:ext cx="4519868" cy="3091636"/>
            <a:chOff x="0" y="0"/>
            <a:chExt cx="6026491" cy="412218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122182" cy="412218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904309" y="0"/>
              <a:ext cx="4122182" cy="412218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3859115" y="8932023"/>
            <a:ext cx="3245563" cy="32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0"/>
              </a:lnSpc>
              <a:spcBef>
                <a:spcPct val="0"/>
              </a:spcBef>
            </a:pPr>
            <a:r>
              <a:rPr lang="en-US" b="true" sz="190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www.youramit.in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9049" y="-6906556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2"/>
                </a:lnTo>
                <a:lnTo>
                  <a:pt x="0" y="15870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0" id="10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123433" y="5901530"/>
            <a:ext cx="9135867" cy="1927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405"/>
              </a:lnSpc>
            </a:pPr>
            <a:r>
              <a:rPr lang="en-US" sz="12922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77796" y="2711187"/>
            <a:ext cx="6652526" cy="449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002" indent="-305501" lvl="1">
              <a:lnSpc>
                <a:spcPts val="3594"/>
              </a:lnSpc>
              <a:buFont typeface="Arial"/>
              <a:buChar char="•"/>
            </a:pPr>
            <a:r>
              <a:rPr lang="en-US" b="true" sz="2830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Successfully implemented real-time object detection and people counting.</a:t>
            </a:r>
          </a:p>
          <a:p>
            <a:pPr algn="l" marL="611002" indent="-305501" lvl="1">
              <a:lnSpc>
                <a:spcPts val="3594"/>
              </a:lnSpc>
              <a:buFont typeface="Arial"/>
              <a:buChar char="•"/>
            </a:pPr>
            <a:r>
              <a:rPr lang="en-US" b="true" sz="2830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Combines AI with user-friendly deployment using Streamlit.</a:t>
            </a:r>
          </a:p>
          <a:p>
            <a:pPr algn="l" marL="611002" indent="-305501" lvl="1">
              <a:lnSpc>
                <a:spcPts val="3594"/>
              </a:lnSpc>
              <a:buFont typeface="Arial"/>
              <a:buChar char="•"/>
            </a:pPr>
            <a:r>
              <a:rPr lang="en-US" b="true" sz="2830">
                <a:solidFill>
                  <a:srgbClr val="2F2F2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Can be adapted to various practical use-cases like surveillance, crowd monitoring, and event management.</a:t>
            </a:r>
          </a:p>
          <a:p>
            <a:pPr algn="l">
              <a:lnSpc>
                <a:spcPts val="3594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649935">
            <a:off x="5802264" y="6172200"/>
            <a:ext cx="6717411" cy="8229600"/>
          </a:xfrm>
          <a:custGeom>
            <a:avLst/>
            <a:gdLst/>
            <a:ahLst/>
            <a:cxnLst/>
            <a:rect r="r" b="b" t="t" l="l"/>
            <a:pathLst>
              <a:path h="8229600" w="6717411">
                <a:moveTo>
                  <a:pt x="0" y="0"/>
                </a:moveTo>
                <a:lnTo>
                  <a:pt x="6717411" y="0"/>
                </a:lnTo>
                <a:lnTo>
                  <a:pt x="6717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28700" y="8241350"/>
            <a:ext cx="6607783" cy="4519791"/>
            <a:chOff x="0" y="0"/>
            <a:chExt cx="8810378" cy="602638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026389" cy="602638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783989" y="0"/>
              <a:ext cx="6026389" cy="6026389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4013737" y="8932023"/>
            <a:ext cx="3245563" cy="323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70"/>
              </a:lnSpc>
              <a:spcBef>
                <a:spcPct val="0"/>
              </a:spcBef>
            </a:pPr>
            <a:r>
              <a:rPr lang="en-US" b="true" sz="1907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www.youramit.in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58074" y="-6455023"/>
            <a:ext cx="17111065" cy="15870513"/>
          </a:xfrm>
          <a:custGeom>
            <a:avLst/>
            <a:gdLst/>
            <a:ahLst/>
            <a:cxnLst/>
            <a:rect r="r" b="b" t="t" l="l"/>
            <a:pathLst>
              <a:path h="15870513" w="17111065">
                <a:moveTo>
                  <a:pt x="0" y="0"/>
                </a:moveTo>
                <a:lnTo>
                  <a:pt x="17111065" y="0"/>
                </a:lnTo>
                <a:lnTo>
                  <a:pt x="17111065" y="15870512"/>
                </a:lnTo>
                <a:lnTo>
                  <a:pt x="0" y="15870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90600"/>
            <a:ext cx="2277184" cy="326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Web-App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233140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About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40065" y="990600"/>
            <a:ext cx="1251950" cy="326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  <a:spcBef>
                <a:spcPct val="0"/>
              </a:spcBef>
            </a:pPr>
            <a:r>
              <a:rPr lang="en-US" sz="1907" b="true">
                <a:solidFill>
                  <a:srgbClr val="00000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Contact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759599" y="1016136"/>
            <a:ext cx="499701" cy="300742"/>
            <a:chOff x="0" y="0"/>
            <a:chExt cx="666269" cy="400989"/>
          </a:xfrm>
        </p:grpSpPr>
        <p:sp>
          <p:nvSpPr>
            <p:cNvPr name="AutoShape 7" id="7"/>
            <p:cNvSpPr/>
            <p:nvPr/>
          </p:nvSpPr>
          <p:spPr>
            <a:xfrm flipV="true">
              <a:off x="0" y="25400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0" y="1977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9" id="9"/>
            <p:cNvSpPr/>
            <p:nvPr/>
          </p:nvSpPr>
          <p:spPr>
            <a:xfrm>
              <a:off x="0" y="375589"/>
              <a:ext cx="666269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AutoShape 10" id="10"/>
          <p:cNvSpPr/>
          <p:nvPr/>
        </p:nvSpPr>
        <p:spPr>
          <a:xfrm flipV="true">
            <a:off x="1028700" y="1696153"/>
            <a:ext cx="1171670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6563478"/>
            <a:ext cx="15524291" cy="330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4"/>
              </a:lnSpc>
            </a:pPr>
            <a:r>
              <a:rPr lang="en-US" sz="22390">
                <a:solidFill>
                  <a:srgbClr val="2F2F2F"/>
                </a:solidFill>
                <a:latin typeface="Ouhod"/>
                <a:ea typeface="Ouhod"/>
                <a:cs typeface="Ouhod"/>
                <a:sym typeface="Ouhod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649935">
            <a:off x="13650744" y="262286"/>
            <a:ext cx="6717411" cy="8229600"/>
          </a:xfrm>
          <a:custGeom>
            <a:avLst/>
            <a:gdLst/>
            <a:ahLst/>
            <a:cxnLst/>
            <a:rect r="r" b="b" t="t" l="l"/>
            <a:pathLst>
              <a:path h="8229600" w="6717411">
                <a:moveTo>
                  <a:pt x="0" y="0"/>
                </a:moveTo>
                <a:lnTo>
                  <a:pt x="6717411" y="0"/>
                </a:lnTo>
                <a:lnTo>
                  <a:pt x="6717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2317874"/>
            <a:ext cx="6067678" cy="4150354"/>
            <a:chOff x="0" y="0"/>
            <a:chExt cx="8090238" cy="5533805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533805" cy="5533805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556432" y="0"/>
              <a:ext cx="5533805" cy="553380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9275007" y="2317874"/>
            <a:ext cx="6067678" cy="4150354"/>
            <a:chOff x="0" y="0"/>
            <a:chExt cx="8090238" cy="5533805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533805" cy="553380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556432" y="0"/>
              <a:ext cx="5533805" cy="553380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2F2F2F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70"/>
                  </a:lnSpc>
                </a:pPr>
              </a:p>
            </p:txBody>
          </p:sp>
        </p:grp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DAGlhFqMnO8</dc:identifier>
  <dcterms:modified xsi:type="dcterms:W3CDTF">2011-08-01T06:04:30Z</dcterms:modified>
  <cp:revision>1</cp:revision>
  <dc:title>Tech Company</dc:title>
</cp:coreProperties>
</file>